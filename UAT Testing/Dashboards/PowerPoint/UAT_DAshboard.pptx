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4"/>
  </p:sldMasterIdLst>
  <p:notesMasterIdLst>
    <p:notesMasterId r:id="rId8"/>
  </p:notesMasterIdLst>
  <p:sldIdLst>
    <p:sldId id="2147483092" r:id="rId5"/>
    <p:sldId id="2147483111" r:id="rId6"/>
    <p:sldId id="214748313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B95CFA-0359-4FA8-9FCA-424B638199E5}">
          <p14:sldIdLst>
            <p14:sldId id="2147483092"/>
            <p14:sldId id="2147483111"/>
            <p14:sldId id="21474831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25A9B42-5586-9657-5DA8-A792B6CE1653}" name="Luca Parra Gabarron" initials="LG" userId="S::luca.parragabarron@viryah2.com::60ffc041-d242-4afb-bdbc-4da362d348db" providerId="AD"/>
  <p188:author id="{8105FFE7-4516-3227-5CA7-306C15197926}" name="Florian Martin" initials="FM" userId="S::florian.martin@viryah2.com::cca639cb-fd27-4604-8b01-d4a1c33c218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A3B8"/>
    <a:srgbClr val="CAEEFB"/>
    <a:srgbClr val="84E291"/>
    <a:srgbClr val="FF8F8F"/>
    <a:srgbClr val="467886"/>
    <a:srgbClr val="FFD85D"/>
    <a:srgbClr val="2F3A46"/>
    <a:srgbClr val="000000"/>
    <a:srgbClr val="F2AA84"/>
    <a:srgbClr val="9537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72C3F-B752-4608-97EB-71862270B20F}" type="datetimeFigureOut">
              <a:rPr lang="en-BE" smtClean="0"/>
              <a:t>11/09/2026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F1859-773F-4A6E-B9E4-8EE52B88306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8871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F1859-773F-4A6E-B9E4-8EE52B88306A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1891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4"/>
            <a:ext cx="103632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0B33-E134-45DA-95F7-CC84279EDED5}" type="datetimeFigureOut">
              <a:rPr lang="en-BE" smtClean="0"/>
              <a:t>11/09/2026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99324-BE07-4BE6-9EB0-8D3D3054C0E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7707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37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72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82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53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95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3AB3-A4A7-41CD-BC03-32D03157921D}" type="datetimeFigureOut">
              <a:rPr lang="en-BE" smtClean="0"/>
              <a:t>11/09/2026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24D3-4124-4E89-8656-595E8D1D87E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34410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2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9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72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square with white text&#10;&#10;Description automatically generated">
            <a:extLst>
              <a:ext uri="{FF2B5EF4-FFF2-40B4-BE49-F238E27FC236}">
                <a16:creationId xmlns:a16="http://schemas.microsoft.com/office/drawing/2014/main" id="{1E94AFCE-8A54-4BC8-AD22-A5FBCE3A746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87" r="248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44878" y="275485"/>
            <a:ext cx="10302233" cy="1130996"/>
          </a:xfrm>
        </p:spPr>
        <p:txBody>
          <a:bodyPr anchor="b">
            <a:noAutofit/>
          </a:bodyPr>
          <a:lstStyle>
            <a:lvl1pPr algn="ctr">
              <a:defRPr sz="4125" b="1" baseline="300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fr-BE" err="1"/>
              <a:t>Title</a:t>
            </a:r>
            <a:r>
              <a:rPr lang="fr-BE"/>
              <a:t> of the slide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44872" y="1528360"/>
            <a:ext cx="10302233" cy="4585061"/>
          </a:xfr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None/>
              <a:defRPr sz="1688" i="0">
                <a:solidFill>
                  <a:schemeClr val="bg1"/>
                </a:solidFill>
                <a:latin typeface="Montserrat" panose="00000500000000000000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</a:p>
          <a:p>
            <a:endParaRPr lang="en-US"/>
          </a:p>
          <a:p>
            <a:r>
              <a:rPr lang="en-US" err="1"/>
              <a:t>Faucibus</a:t>
            </a:r>
            <a:r>
              <a:rPr lang="en-US"/>
              <a:t> vitae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vel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Sed tempus </a:t>
            </a:r>
            <a:r>
              <a:rPr lang="en-US" err="1"/>
              <a:t>urna</a:t>
            </a:r>
            <a:r>
              <a:rPr lang="en-US"/>
              <a:t> et pharetra </a:t>
            </a:r>
            <a:r>
              <a:rPr lang="en-US" err="1"/>
              <a:t>pharetra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 </a:t>
            </a:r>
            <a:r>
              <a:rPr lang="en-US" err="1"/>
              <a:t>Mollis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sed id semper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. </a:t>
            </a:r>
          </a:p>
        </p:txBody>
      </p:sp>
      <p:pic>
        <p:nvPicPr>
          <p:cNvPr id="4" name="Picture 3" descr="A red x on a black background&#10;&#10;Description automatically generated">
            <a:extLst>
              <a:ext uri="{FF2B5EF4-FFF2-40B4-BE49-F238E27FC236}">
                <a16:creationId xmlns:a16="http://schemas.microsoft.com/office/drawing/2014/main" id="{5DFED971-0BAF-0EB0-C084-0AE3DEE2AC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660" y="6375952"/>
            <a:ext cx="533227" cy="48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56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E106D3A-B507-1800-D109-AF77BD8AA4C9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8556624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106D3A-B507-1800-D109-AF77BD8AA4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">
            <a:extLst>
              <a:ext uri="{FF2B5EF4-FFF2-40B4-BE49-F238E27FC236}">
                <a16:creationId xmlns:a16="http://schemas.microsoft.com/office/drawing/2014/main" id="{5F4653BC-FF43-572E-29A5-FC7651710C38}"/>
              </a:ext>
            </a:extLst>
          </p:cNvPr>
          <p:cNvSpPr/>
          <p:nvPr userDrawn="1"/>
        </p:nvSpPr>
        <p:spPr>
          <a:xfrm>
            <a:off x="0" y="0"/>
            <a:ext cx="12192000" cy="2286000"/>
          </a:xfrm>
          <a:prstGeom prst="rect">
            <a:avLst/>
          </a:prstGeom>
          <a:gradFill flip="none" rotWithShape="1">
            <a:gsLst>
              <a:gs pos="15000">
                <a:srgbClr val="3E4554"/>
              </a:gs>
              <a:gs pos="51000">
                <a:srgbClr val="2D323D"/>
              </a:gs>
            </a:gsLst>
            <a:lin ang="2700000" scaled="1"/>
            <a:tileRect/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7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1DDA27-949D-2CAF-E24B-A48A20B4289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23603" y="6372861"/>
            <a:ext cx="1944793" cy="335309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5D21C0E-8988-3387-400D-F71DD9E961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33421" y="385984"/>
            <a:ext cx="10515600" cy="646331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lvl1pPr>
              <a:defRPr kumimoji="0" lang="fr-FR" altLang="en-US" sz="36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77"/>
                <a:ea typeface="Source Sans Pro Semibold" panose="020B0603030403020204" pitchFamily="34" charset="0"/>
                <a:cs typeface="+mn-cs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en-US"/>
              <a:t>Click to edit Master title style</a:t>
            </a:r>
            <a:endParaRPr lang="fr-FR" altLang="en-US"/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ED60F25-C460-0049-6F53-60EB47A50E81}"/>
              </a:ext>
            </a:extLst>
          </p:cNvPr>
          <p:cNvSpPr/>
          <p:nvPr userDrawn="1"/>
        </p:nvSpPr>
        <p:spPr>
          <a:xfrm>
            <a:off x="767370" y="1135696"/>
            <a:ext cx="868680" cy="0"/>
          </a:xfrm>
          <a:prstGeom prst="line">
            <a:avLst/>
          </a:prstGeom>
          <a:ln w="63500">
            <a:solidFill>
              <a:srgbClr val="50A360"/>
            </a:solidFill>
            <a:miter lim="400000"/>
          </a:ln>
        </p:spPr>
        <p:txBody>
          <a:bodyPr lIns="0" tIns="0" rIns="0" bIns="0" anchor="ctr"/>
          <a:lstStyle/>
          <a:p>
            <a:pPr algn="ctr" defTabSz="412740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Calibri" panose="020F0502020204030204" pitchFamily="34" charset="0"/>
              <a:ea typeface="Source Sans Pro" panose="020B050303040302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6CDA4721-AA59-1AC4-AE7C-7ECEF8649C76}"/>
              </a:ext>
            </a:extLst>
          </p:cNvPr>
          <p:cNvSpPr/>
          <p:nvPr userDrawn="1"/>
        </p:nvSpPr>
        <p:spPr>
          <a:xfrm>
            <a:off x="1773042" y="1135696"/>
            <a:ext cx="868680" cy="0"/>
          </a:xfrm>
          <a:prstGeom prst="line">
            <a:avLst/>
          </a:prstGeom>
          <a:ln w="63500">
            <a:solidFill>
              <a:srgbClr val="124394"/>
            </a:solidFill>
            <a:miter lim="400000"/>
          </a:ln>
        </p:spPr>
        <p:txBody>
          <a:bodyPr lIns="0" tIns="0" rIns="0" bIns="0" anchor="ctr"/>
          <a:lstStyle/>
          <a:p>
            <a:pPr algn="ctr" defTabSz="412740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Calibri" panose="020F0502020204030204" pitchFamily="34" charset="0"/>
              <a:ea typeface="Source Sans Pro" panose="020B050303040302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9C1BC8C-2046-5580-0AC8-82FF018F88E2}"/>
              </a:ext>
            </a:extLst>
          </p:cNvPr>
          <p:cNvSpPr/>
          <p:nvPr userDrawn="1"/>
        </p:nvSpPr>
        <p:spPr>
          <a:xfrm>
            <a:off x="2778713" y="1135696"/>
            <a:ext cx="868680" cy="0"/>
          </a:xfrm>
          <a:prstGeom prst="line">
            <a:avLst/>
          </a:prstGeom>
          <a:ln w="63500">
            <a:solidFill>
              <a:srgbClr val="D74B2E"/>
            </a:solidFill>
            <a:miter lim="400000"/>
          </a:ln>
        </p:spPr>
        <p:txBody>
          <a:bodyPr lIns="0" tIns="0" rIns="0" bIns="0" anchor="ctr"/>
          <a:lstStyle/>
          <a:p>
            <a:pPr algn="ctr" defTabSz="412740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Calibri" panose="020F0502020204030204" pitchFamily="34" charset="0"/>
              <a:ea typeface="Source Sans Pro" panose="020B050303040302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089BC3C9-3FFB-5A08-FEA1-F6A05EFE3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8636" y="6369771"/>
            <a:ext cx="66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22AEC45A-5861-45DE-A118-A1B9528BA250}" type="slidenum">
              <a:rPr lang="fr-FR" smtClean="0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424960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F1D5B2CB-A03F-6A3F-C0CE-DC3A5E063C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646430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D5B2CB-A03F-6A3F-C0CE-DC3A5E063C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F581D71C-EE9E-E818-1D68-7B0B6A9BC8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917" y="401525"/>
            <a:ext cx="9955663" cy="480131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>
            <a:lvl1pPr>
              <a:defRPr lang="fr-FR" altLang="en-US" sz="2800" b="1">
                <a:solidFill>
                  <a:srgbClr val="00554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defRPr>
            </a:lvl1pPr>
          </a:lstStyle>
          <a:p>
            <a:pPr marL="0" lvl="0" defTabSz="914400" eaLnBrk="1" latinLnBrk="0" hangingPunct="1"/>
            <a:r>
              <a:rPr lang="en-US" altLang="en-US"/>
              <a:t>Click to edit Master title style</a:t>
            </a:r>
            <a:endParaRPr lang="fr-F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E99ABC-B0DB-467E-B2AD-BC0F4D0532F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2765" r="20591"/>
          <a:stretch/>
        </p:blipFill>
        <p:spPr>
          <a:xfrm>
            <a:off x="10162644" y="0"/>
            <a:ext cx="2029356" cy="6857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925AF7-367F-A3DB-F66A-190C51E565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7748323" y="2414319"/>
            <a:ext cx="6858000" cy="20293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07BDF3-F630-9276-E780-BD50257586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0284" y="6205759"/>
            <a:ext cx="1948072" cy="333252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5C770F60-FE2A-6C27-72AB-7C73832C2B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80019" y="636977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"/>
                <a:cs typeface="Calibri" panose="020F0502020204030204" pitchFamily="34" charset="0"/>
              </a:defRPr>
            </a:lvl1pPr>
          </a:lstStyle>
          <a:p>
            <a:fld id="{846CE7D5-CF57-46EF-B807-FDD0502418D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CB323EF-8CCC-876A-3AD9-7744358C7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14622" y="636977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2E0157E-C416-2EE3-006E-03D63553F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8636" y="6369771"/>
            <a:ext cx="66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schemeClr val="tx1">
                    <a:tint val="75000"/>
                  </a:schemeClr>
                </a:solidFill>
                <a:latin typeface=""/>
                <a:cs typeface="Calibri" panose="020F0502020204030204" pitchFamily="34" charset="0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DE84E0AD-EB0F-2821-2836-26B7A5462F32}"/>
              </a:ext>
            </a:extLst>
          </p:cNvPr>
          <p:cNvSpPr/>
          <p:nvPr/>
        </p:nvSpPr>
        <p:spPr>
          <a:xfrm>
            <a:off x="767370" y="1135696"/>
            <a:ext cx="868680" cy="0"/>
          </a:xfrm>
          <a:prstGeom prst="line">
            <a:avLst/>
          </a:prstGeom>
          <a:ln w="63500">
            <a:solidFill>
              <a:srgbClr val="50A360"/>
            </a:solidFill>
            <a:miter lim="400000"/>
          </a:ln>
        </p:spPr>
        <p:txBody>
          <a:bodyPr lIns="0" tIns="0" rIns="0" bIns="0" anchor="ctr"/>
          <a:lstStyle/>
          <a:p>
            <a:pPr algn="ctr" defTabSz="412740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"/>
              <a:ea typeface="Source Sans Pro" panose="020B050303040302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E9C96499-88DA-9EFC-0ED3-27520EA6869F}"/>
              </a:ext>
            </a:extLst>
          </p:cNvPr>
          <p:cNvSpPr/>
          <p:nvPr/>
        </p:nvSpPr>
        <p:spPr>
          <a:xfrm>
            <a:off x="1773042" y="1135696"/>
            <a:ext cx="868680" cy="0"/>
          </a:xfrm>
          <a:prstGeom prst="line">
            <a:avLst/>
          </a:prstGeom>
          <a:ln w="63500">
            <a:solidFill>
              <a:srgbClr val="124394"/>
            </a:solidFill>
            <a:miter lim="400000"/>
          </a:ln>
        </p:spPr>
        <p:txBody>
          <a:bodyPr lIns="0" tIns="0" rIns="0" bIns="0" anchor="ctr"/>
          <a:lstStyle/>
          <a:p>
            <a:pPr algn="ctr" defTabSz="412740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"/>
              <a:ea typeface="Source Sans Pro" panose="020B050303040302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sp>
        <p:nvSpPr>
          <p:cNvPr id="31" name="Line">
            <a:extLst>
              <a:ext uri="{FF2B5EF4-FFF2-40B4-BE49-F238E27FC236}">
                <a16:creationId xmlns:a16="http://schemas.microsoft.com/office/drawing/2014/main" id="{67A47651-6E47-8E68-669C-B9829D8C80A8}"/>
              </a:ext>
            </a:extLst>
          </p:cNvPr>
          <p:cNvSpPr/>
          <p:nvPr/>
        </p:nvSpPr>
        <p:spPr>
          <a:xfrm>
            <a:off x="2778713" y="1135696"/>
            <a:ext cx="868680" cy="0"/>
          </a:xfrm>
          <a:prstGeom prst="line">
            <a:avLst/>
          </a:prstGeom>
          <a:ln w="63500">
            <a:solidFill>
              <a:srgbClr val="D74B2E"/>
            </a:solidFill>
            <a:miter lim="400000"/>
          </a:ln>
        </p:spPr>
        <p:txBody>
          <a:bodyPr lIns="0" tIns="0" rIns="0" bIns="0" anchor="ctr"/>
          <a:lstStyle/>
          <a:p>
            <a:pPr algn="ctr" defTabSz="412740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"/>
              <a:ea typeface="Source Sans Pro" panose="020B0503030403020204" pitchFamily="34" charset="0"/>
              <a:cs typeface="Calibri" panose="020F0502020204030204" pitchFamily="34" charset="0"/>
              <a:sym typeface="Helvetica Neue Medium"/>
            </a:endParaRP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27EB08EE-5133-368B-C906-CA270A4B96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72786" y="1389737"/>
            <a:ext cx="9389857" cy="48160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68288" indent="-168275" algn="l" defTabSz="914400" rtl="0" eaLnBrk="1" latinLnBrk="0" hangingPunct="1">
              <a:buFont typeface="Arial" panose="020B0604020202020204" pitchFamily="34" charset="0"/>
              <a:buChar char="•"/>
              <a:defRPr sz="1800"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 marL="541338" indent="-138113">
              <a:tabLst/>
              <a:defRPr sz="1800"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 marL="900113" indent="-185738">
              <a:tabLst/>
              <a:defRPr sz="1800"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 marL="1165225" indent="-184150">
              <a:tabLst/>
              <a:defRPr sz="1800"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58327825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7A46CD4-4A3B-3AEF-A142-E029A6860E25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2504383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05" imgH="405" progId="TCLayout.ActiveDocument.1">
                  <p:embed/>
                </p:oleObj>
              </mc:Choice>
              <mc:Fallback>
                <p:oleObj name="think-cell Slide" r:id="rId17" imgW="405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A46CD4-4A3B-3AEF-A142-E029A6860E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459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6" r:id="rId13"/>
    <p:sldLayoutId id="2147483717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6" Type="http://schemas.openxmlformats.org/officeDocument/2006/relationships/image" Target="../media/image11.sv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5" Type="http://schemas.openxmlformats.org/officeDocument/2006/relationships/image" Target="../media/image14.png"/><Relationship Id="rId4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E52357-EF48-71E8-807D-C7C6D0E32B5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821032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E52357-EF48-71E8-807D-C7C6D0E32B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0">
            <a:extLst>
              <a:ext uri="{FF2B5EF4-FFF2-40B4-BE49-F238E27FC236}">
                <a16:creationId xmlns:a16="http://schemas.microsoft.com/office/drawing/2014/main" id="{8BA3CAFF-06B8-012F-817C-A5E08EABE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21" y="413684"/>
            <a:ext cx="10515600" cy="590931"/>
          </a:xfrm>
        </p:spPr>
        <p:txBody>
          <a:bodyPr vert="horz" rIns="91440">
            <a:spAutoFit/>
          </a:bodyPr>
          <a:lstStyle/>
          <a:p>
            <a:r>
              <a:rPr lang="en-GB">
                <a:latin typeface="Montserrat" panose="00000500000000000000" pitchFamily="2" charset="0"/>
              </a:rPr>
              <a:t>Hyoffwind Steering Layer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4107A47-E6C0-D804-BAEE-87BE77BE9CFB}"/>
              </a:ext>
            </a:extLst>
          </p:cNvPr>
          <p:cNvSpPr txBox="1">
            <a:spLocks/>
          </p:cNvSpPr>
          <p:nvPr/>
        </p:nvSpPr>
        <p:spPr>
          <a:xfrm>
            <a:off x="3103110" y="4427055"/>
            <a:ext cx="5985779" cy="894753"/>
          </a:xfrm>
          <a:prstGeom prst="rect">
            <a:avLst/>
          </a:prstGeom>
        </p:spPr>
        <p:txBody>
          <a:bodyPr/>
          <a:lstStyle>
            <a:lvl1pPr marL="0" eaLnBrk="1" hangingPunct="1">
              <a:defRPr lang="en-US" sz="2426" b="1" dirty="0" smtClean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7246" indent="0" eaLnBrk="1" hangingPunct="1">
              <a:buNone/>
              <a:defRPr lang="en-US" sz="1940" dirty="0" smtClean="0">
                <a:solidFill>
                  <a:srgbClr val="175649"/>
                </a:solidFill>
                <a:latin typeface="+mn-lt"/>
                <a:ea typeface="+mn-ea"/>
                <a:cs typeface="+mn-cs"/>
              </a:defRPr>
            </a:lvl2pPr>
            <a:lvl3pPr marL="554492" eaLnBrk="1" hangingPunct="1">
              <a:defRPr lang="en-US" sz="1940" dirty="0" smtClean="0">
                <a:solidFill>
                  <a:srgbClr val="175649"/>
                </a:solidFill>
                <a:latin typeface="+mn-lt"/>
                <a:ea typeface="+mn-ea"/>
                <a:cs typeface="+mn-cs"/>
              </a:defRPr>
            </a:lvl3pPr>
            <a:lvl4pPr marL="831738" eaLnBrk="1" hangingPunct="1">
              <a:defRPr lang="en-US" sz="1698" dirty="0" smtClean="0">
                <a:solidFill>
                  <a:srgbClr val="175649"/>
                </a:solidFill>
                <a:latin typeface="+mn-lt"/>
                <a:ea typeface="+mn-ea"/>
                <a:cs typeface="+mn-cs"/>
              </a:defRPr>
            </a:lvl4pPr>
            <a:lvl5pPr marL="1108984" eaLnBrk="1" hangingPunct="1">
              <a:defRPr lang="LID4096" sz="1455" dirty="0" smtClean="0">
                <a:solidFill>
                  <a:srgbClr val="175649"/>
                </a:solidFill>
                <a:latin typeface="+mn-lt"/>
                <a:ea typeface="+mn-ea"/>
                <a:cs typeface="+mn-cs"/>
              </a:defRPr>
            </a:lvl5pPr>
            <a:lvl6pPr marL="1386230" eaLnBrk="1" hangingPunct="1">
              <a:defRPr>
                <a:latin typeface="+mn-lt"/>
                <a:ea typeface="+mn-ea"/>
                <a:cs typeface="+mn-cs"/>
              </a:defRPr>
            </a:lvl6pPr>
            <a:lvl7pPr marL="1663476" eaLnBrk="1" hangingPunct="1">
              <a:defRPr>
                <a:latin typeface="+mn-lt"/>
                <a:ea typeface="+mn-ea"/>
                <a:cs typeface="+mn-cs"/>
              </a:defRPr>
            </a:lvl7pPr>
            <a:lvl8pPr marL="1940723" eaLnBrk="1" hangingPunct="1">
              <a:defRPr>
                <a:latin typeface="+mn-lt"/>
                <a:ea typeface="+mn-ea"/>
                <a:cs typeface="+mn-cs"/>
              </a:defRPr>
            </a:lvl8pPr>
            <a:lvl9pPr marL="2217969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600" kern="0">
                <a:latin typeface="Montserrat" panose="00000500000000000000" pitchFamily="2" charset="0"/>
              </a:rPr>
              <a:t>HERA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141C3CB-990F-308E-35CD-FB54FFC023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13343" y="5963622"/>
            <a:ext cx="1396004" cy="842034"/>
          </a:xfrm>
          <a:prstGeom prst="rect">
            <a:avLst/>
          </a:prstGeom>
        </p:spPr>
      </p:pic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CD4ED2F-1BCE-C3D0-C0A3-B270F17F52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011" y="2735415"/>
            <a:ext cx="1911975" cy="191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3879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010F1-8367-3AB7-AC44-E7C963A6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66120BB-D309-D884-AEC5-B4D11FE8740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979689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66120BB-D309-D884-AEC5-B4D11FE874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7DF5BC3C-CCB0-88B6-347F-3C56E42AF893}"/>
              </a:ext>
            </a:extLst>
          </p:cNvPr>
          <p:cNvSpPr/>
          <p:nvPr/>
        </p:nvSpPr>
        <p:spPr>
          <a:xfrm>
            <a:off x="0" y="0"/>
            <a:ext cx="10186416" cy="6858000"/>
          </a:xfrm>
          <a:prstGeom prst="rect">
            <a:avLst/>
          </a:prstGeom>
          <a:solidFill>
            <a:srgbClr val="2F3A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230B50C1-EA96-3321-578A-931788B144FC}"/>
              </a:ext>
            </a:extLst>
          </p:cNvPr>
          <p:cNvSpPr txBox="1">
            <a:spLocks/>
          </p:cNvSpPr>
          <p:nvPr/>
        </p:nvSpPr>
        <p:spPr bwMode="auto">
          <a:xfrm>
            <a:off x="766917" y="401525"/>
            <a:ext cx="5517151" cy="590931"/>
          </a:xfrm>
          <a:prstGeom prst="rect">
            <a:avLst/>
          </a:prstGeom>
          <a:noFill/>
        </p:spPr>
        <p:txBody>
          <a:bodyPr vert="horz" wrap="square" rIns="91440">
            <a:sp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fr-FR" altLang="en-US" sz="2800" b="1" kern="1200">
                <a:solidFill>
                  <a:srgbClr val="00554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GB" sz="3600">
                <a:solidFill>
                  <a:schemeClr val="bg1"/>
                </a:solidFill>
                <a:latin typeface="Montserrat" panose="00000500000000000000" pitchFamily="2" charset="0"/>
              </a:rPr>
              <a:t>Agenda</a:t>
            </a:r>
            <a:endParaRPr lang="en-GB" sz="180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4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F38D30F-5A8E-C646-3F6E-7DA45E746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650" y="490343"/>
            <a:ext cx="585213" cy="585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735;p7">
            <a:extLst>
              <a:ext uri="{FF2B5EF4-FFF2-40B4-BE49-F238E27FC236}">
                <a16:creationId xmlns:a16="http://schemas.microsoft.com/office/drawing/2014/main" id="{458471A9-F636-003A-7F14-8D3212A1E5C1}"/>
              </a:ext>
            </a:extLst>
          </p:cNvPr>
          <p:cNvSpPr txBox="1"/>
          <p:nvPr/>
        </p:nvSpPr>
        <p:spPr>
          <a:xfrm>
            <a:off x="10752367" y="552137"/>
            <a:ext cx="1514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chemeClr val="bg1"/>
                </a:solidFill>
                <a:latin typeface="Montserrat"/>
                <a:sym typeface="Montserrat"/>
              </a:rPr>
              <a:t>HERA</a:t>
            </a:r>
            <a:endParaRPr sz="2800">
              <a:solidFill>
                <a:schemeClr val="bg1"/>
              </a:solidFill>
            </a:endParaRPr>
          </a:p>
        </p:txBody>
      </p:sp>
      <p:sp>
        <p:nvSpPr>
          <p:cNvPr id="12" name="Google Shape;1405;p27">
            <a:extLst>
              <a:ext uri="{FF2B5EF4-FFF2-40B4-BE49-F238E27FC236}">
                <a16:creationId xmlns:a16="http://schemas.microsoft.com/office/drawing/2014/main" id="{77C04EA1-6C82-92A5-C53E-8950C588DAD4}"/>
              </a:ext>
            </a:extLst>
          </p:cNvPr>
          <p:cNvSpPr txBox="1"/>
          <p:nvPr/>
        </p:nvSpPr>
        <p:spPr>
          <a:xfrm>
            <a:off x="406917" y="6276475"/>
            <a:ext cx="360000" cy="360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 sz="1200" b="1" smtClean="0">
                <a:solidFill>
                  <a:schemeClr val="bg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2</a:t>
            </a:fld>
            <a:endParaRPr sz="1200" b="1">
              <a:solidFill>
                <a:schemeClr val="bg1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D82904-072E-1A85-47E6-F2B02017DF6B}"/>
              </a:ext>
            </a:extLst>
          </p:cNvPr>
          <p:cNvSpPr txBox="1"/>
          <p:nvPr/>
        </p:nvSpPr>
        <p:spPr>
          <a:xfrm>
            <a:off x="766917" y="1317679"/>
            <a:ext cx="774496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i="1" dirty="0">
                <a:solidFill>
                  <a:schemeClr val="bg1"/>
                </a:solidFill>
              </a:rPr>
              <a:t>ANALYSIS</a:t>
            </a:r>
          </a:p>
          <a:p>
            <a:r>
              <a:rPr lang="en-GB" sz="1600" b="1" i="1" dirty="0">
                <a:solidFill>
                  <a:schemeClr val="bg1"/>
                </a:solidFill>
              </a:rPr>
              <a:t>	STATUS</a:t>
            </a:r>
          </a:p>
          <a:p>
            <a:r>
              <a:rPr lang="en-GB" sz="1600" b="1" i="1" dirty="0">
                <a:solidFill>
                  <a:schemeClr val="bg1"/>
                </a:solidFill>
              </a:rPr>
              <a:t>	HERA DATABASE DESCRIPTION</a:t>
            </a:r>
            <a:endParaRPr lang="en-GB" sz="1600" dirty="0">
              <a:solidFill>
                <a:schemeClr val="bg1"/>
              </a:solidFill>
            </a:endParaRPr>
          </a:p>
          <a:p>
            <a:endParaRPr lang="en-GB" sz="1600" dirty="0">
              <a:solidFill>
                <a:srgbClr val="94A3B8"/>
              </a:solidFill>
            </a:endParaRPr>
          </a:p>
          <a:p>
            <a:r>
              <a:rPr lang="en-GB" sz="1600" b="1" i="1" dirty="0">
                <a:solidFill>
                  <a:srgbClr val="94A3B8"/>
                </a:solidFill>
              </a:rPr>
              <a:t>ON-GOING DEVELOPMENTS</a:t>
            </a:r>
          </a:p>
          <a:p>
            <a:r>
              <a:rPr lang="en-GB" sz="1600" dirty="0">
                <a:solidFill>
                  <a:srgbClr val="94A3B8"/>
                </a:solidFill>
              </a:rPr>
              <a:t>	</a:t>
            </a:r>
            <a:r>
              <a:rPr lang="en-GB" sz="1600" b="1" dirty="0">
                <a:solidFill>
                  <a:srgbClr val="94A3B8"/>
                </a:solidFill>
              </a:rPr>
              <a:t>Updates Frontend</a:t>
            </a:r>
          </a:p>
          <a:p>
            <a:r>
              <a:rPr lang="en-GB" sz="1600" b="1" dirty="0">
                <a:solidFill>
                  <a:srgbClr val="94A3B8"/>
                </a:solidFill>
              </a:rPr>
              <a:t>	</a:t>
            </a:r>
            <a:r>
              <a:rPr lang="en-GB" sz="1600" b="1" dirty="0" err="1">
                <a:solidFill>
                  <a:srgbClr val="94A3B8"/>
                </a:solidFill>
              </a:rPr>
              <a:t>MonthlyNominations</a:t>
            </a:r>
            <a:endParaRPr lang="en-GB" sz="1600" b="1" dirty="0">
              <a:solidFill>
                <a:srgbClr val="94A3B8"/>
              </a:solidFill>
            </a:endParaRPr>
          </a:p>
          <a:p>
            <a:r>
              <a:rPr lang="en-GB" sz="1600" b="1" dirty="0">
                <a:solidFill>
                  <a:srgbClr val="94A3B8"/>
                </a:solidFill>
              </a:rPr>
              <a:t>	Movements</a:t>
            </a:r>
          </a:p>
          <a:p>
            <a:r>
              <a:rPr lang="en-GB" sz="1600" b="1" dirty="0">
                <a:solidFill>
                  <a:srgbClr val="94A3B8"/>
                </a:solidFill>
              </a:rPr>
              <a:t>	Optimizer POC in HERA</a:t>
            </a:r>
          </a:p>
          <a:p>
            <a:r>
              <a:rPr lang="en-GB" sz="1600" b="1" dirty="0">
                <a:solidFill>
                  <a:srgbClr val="94A3B8"/>
                </a:solidFill>
              </a:rPr>
              <a:t>	Montel ENAPSYS</a:t>
            </a:r>
          </a:p>
          <a:p>
            <a:endParaRPr lang="en-GB" sz="1600" dirty="0">
              <a:solidFill>
                <a:srgbClr val="94A3B8"/>
              </a:solidFill>
            </a:endParaRPr>
          </a:p>
          <a:p>
            <a:r>
              <a:rPr lang="en-GB" sz="1600" b="1" i="1" dirty="0">
                <a:solidFill>
                  <a:srgbClr val="94A3B8"/>
                </a:solidFill>
              </a:rPr>
              <a:t>HERA TESTING</a:t>
            </a:r>
            <a:endParaRPr lang="en-GB" sz="1600" b="1" i="1" dirty="0">
              <a:solidFill>
                <a:srgbClr val="94A3B8"/>
              </a:solidFill>
              <a:sym typeface="Wingdings" panose="05000000000000000000" pitchFamily="2" charset="2"/>
            </a:endParaRPr>
          </a:p>
          <a:p>
            <a:r>
              <a:rPr lang="en-GB" sz="1600" dirty="0">
                <a:solidFill>
                  <a:srgbClr val="94A3B8"/>
                </a:solidFill>
                <a:sym typeface="Wingdings" panose="05000000000000000000" pitchFamily="2" charset="2"/>
              </a:rPr>
              <a:t>	-</a:t>
            </a:r>
            <a:endParaRPr lang="en-GB" sz="1600" dirty="0">
              <a:solidFill>
                <a:srgbClr val="94A3B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19991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C69A-A11C-DFA3-F457-07BB7424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report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E1596-40CE-7CF8-55B0-8D137DA23B6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6486873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rex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rex" id="{FBFA98D1-E68A-4929-9D1E-2361772F882F}" vid="{EEDC3F23-0AC9-442F-AA3C-9991E4F0D3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8f2219-9df6-41b0-bbd9-31bc92aa6312">
      <Terms xmlns="http://schemas.microsoft.com/office/infopath/2007/PartnerControls"/>
    </lcf76f155ced4ddcb4097134ff3c332f>
    <TaxCatchAll xmlns="fcca0b8f-fe92-4f41-ba36-6812fafb1032" xsi:nil="true"/>
    <Inworkwith xmlns="b58f2219-9df6-41b0-bbd9-31bc92aa6312" xsi:nil="true"/>
    <Status xmlns="b58f2219-9df6-41b0-bbd9-31bc92aa6312" xsi:nil="true"/>
    <Owner xmlns="b58f2219-9df6-41b0-bbd9-31bc92aa6312">
      <UserInfo>
        <DisplayName/>
        <AccountId xsi:nil="true"/>
        <AccountType/>
      </UserInfo>
    </Owner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94D78D03454642890D44A5030E0905" ma:contentTypeVersion="20" ma:contentTypeDescription="Create a new document." ma:contentTypeScope="" ma:versionID="5d95f3da0c93d63747a4e28262ba82d9">
  <xsd:schema xmlns:xsd="http://www.w3.org/2001/XMLSchema" xmlns:xs="http://www.w3.org/2001/XMLSchema" xmlns:p="http://schemas.microsoft.com/office/2006/metadata/properties" xmlns:ns2="b58f2219-9df6-41b0-bbd9-31bc92aa6312" xmlns:ns3="fcca0b8f-fe92-4f41-ba36-6812fafb1032" targetNamespace="http://schemas.microsoft.com/office/2006/metadata/properties" ma:root="true" ma:fieldsID="f0e904655750d32d5a5777aa8feb7b84" ns2:_="" ns3:_="">
    <xsd:import namespace="b58f2219-9df6-41b0-bbd9-31bc92aa6312"/>
    <xsd:import namespace="fcca0b8f-fe92-4f41-ba36-6812fafb10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SearchProperties" minOccurs="0"/>
                <xsd:element ref="ns2:MediaServiceBillingMetadata" minOccurs="0"/>
                <xsd:element ref="ns2:Owner" minOccurs="0"/>
                <xsd:element ref="ns2:Status" minOccurs="0"/>
                <xsd:element ref="ns2:Inworkwit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8f2219-9df6-41b0-bbd9-31bc92aa63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5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7" nillable="true" ma:taxonomy="true" ma:internalName="lcf76f155ced4ddcb4097134ff3c332f" ma:taxonomyFieldName="MediaServiceImageTags" ma:displayName="Balises d’images" ma:readOnly="false" ma:fieldId="{5cf76f15-5ced-4ddc-b409-7134ff3c332f}" ma:taxonomyMulti="true" ma:sspId="af757be3-6f69-40f9-8da1-ef3699b833e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description="" ma:indexed="true" ma:internalName="MediaServiceLocatio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Owner" ma:index="21" nillable="true" ma:displayName="Owner" ma:format="Dropdown" ma:list="UserInfo" ma:SharePointGroup="0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22" nillable="true" ma:displayName="Status" ma:format="Dropdown" ma:internalName="Status">
      <xsd:simpleType>
        <xsd:restriction base="dms:Choice">
          <xsd:enumeration value="Not Approved"/>
          <xsd:enumeration value="Approved with comments"/>
          <xsd:enumeration value="Approved"/>
        </xsd:restriction>
      </xsd:simpleType>
    </xsd:element>
    <xsd:element name="Inworkwith" ma:index="23" nillable="true" ma:displayName="In work with" ma:format="Dropdown" ma:internalName="Inworkwith">
      <xsd:simpleType>
        <xsd:restriction base="dms:Choice">
          <xsd:enumeration value="Virya"/>
          <xsd:enumeration value="JCK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a0b8f-fe92-4f41-ba36-6812fafb1032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5540e9cd-04a5-4fb6-82c5-8b5d9cd698d2}" ma:internalName="TaxCatchAll" ma:showField="CatchAllData" ma:web="fcca0b8f-fe92-4f41-ba36-6812fafb10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7" ma:displayName="Type de contenu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F7FC08-E836-4860-B017-C1E69564B9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A53C3A-2619-49EE-A40D-550C82C3C21B}">
  <ds:schemaRefs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fcca0b8f-fe92-4f41-ba36-6812fafb1032"/>
    <ds:schemaRef ds:uri="http://purl.org/dc/terms/"/>
    <ds:schemaRef ds:uri="http://schemas.microsoft.com/office/infopath/2007/PartnerControls"/>
    <ds:schemaRef ds:uri="b58f2219-9df6-41b0-bbd9-31bc92aa6312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3610079-CFAC-464E-B9B3-80AA3D0E96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8f2219-9df6-41b0-bbd9-31bc92aa6312"/>
    <ds:schemaRef ds:uri="fcca0b8f-fe92-4f41-ba36-6812fafb10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irex</Template>
  <TotalTime>0</TotalTime>
  <Words>38</Words>
  <Application>Microsoft Office PowerPoint</Application>
  <PresentationFormat>Widescreen</PresentationFormat>
  <Paragraphs>20</Paragraphs>
  <Slides>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Helvetica Neue Medium</vt:lpstr>
      <vt:lpstr>Montserrat</vt:lpstr>
      <vt:lpstr>Source Sans Pro</vt:lpstr>
      <vt:lpstr>Wingdings</vt:lpstr>
      <vt:lpstr>irex</vt:lpstr>
      <vt:lpstr>think-cell Slide</vt:lpstr>
      <vt:lpstr>Hyoffwind Steering Layer</vt:lpstr>
      <vt:lpstr>PowerPoint Presentation</vt:lpstr>
      <vt:lpstr>Testing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Martin</dc:creator>
  <cp:lastModifiedBy>Luca Parra Gabarron</cp:lastModifiedBy>
  <cp:revision>2</cp:revision>
  <cp:lastPrinted>2026-04-27T22:21:40Z</cp:lastPrinted>
  <dcterms:created xsi:type="dcterms:W3CDTF">2025-10-06T07:05:22Z</dcterms:created>
  <dcterms:modified xsi:type="dcterms:W3CDTF">2026-09-11T11:45:35Z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0x010100F994D78D03454642890D44A5030E0905</vt:lpwstr>
  </property>
  <property fmtid="{D5CDD505-2E9C-101B-9397-08002B2CF9AE}" pid="3" name="MediaServiceImageTags">
    <vt:lpwstr/>
  </property>
  <property fmtid="{D5CDD505-2E9C-101B-9397-08002B2CF9AE}" pid="4" name="_ExtendedDescription">
    <vt:lpwstr/>
  </property>
</Properties>
</file>